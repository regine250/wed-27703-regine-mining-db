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635"/>
            <a:ext cx="12191365" cy="6857365"/>
          </a:xfrm>
        </p:spPr>
        <p:txBody>
          <a:bodyPr/>
          <a:p>
            <a:pPr marL="0" indent="0">
              <a:spcBef>
                <a:spcPts val="1400"/>
              </a:spcBef>
              <a:spcAft>
                <a:spcPts val="400"/>
              </a:spcAft>
              <a:buNone/>
            </a:pPr>
            <a:r>
              <a:rPr b="1">
                <a:solidFill>
                  <a:srgbClr val="1F1F1F"/>
                </a:solidFill>
                <a:latin typeface="Google Sans Flex"/>
                <a:ea typeface="Google Sans Flex"/>
                <a:sym typeface="+mn-ea"/>
              </a:rPr>
              <a:t> </a:t>
            </a:r>
            <a:r>
              <a:rPr b="1">
                <a:solidFill>
                  <a:srgbClr val="1F1F1F"/>
                </a:solidFill>
                <a:latin typeface="+mj-lt"/>
                <a:ea typeface="Google Sans Flex"/>
                <a:cs typeface="+mj-lt"/>
                <a:sym typeface="+mn-ea"/>
              </a:rPr>
              <a:t>Database Schema &amp; Table Definitions</a:t>
            </a:r>
            <a:endParaRPr b="1" i="0">
              <a:solidFill>
                <a:srgbClr val="1F1F1F"/>
              </a:solidFill>
              <a:latin typeface="+mj-lt"/>
              <a:ea typeface="Google Sans Flex"/>
              <a:cs typeface="+mj-lt"/>
            </a:endParaRPr>
          </a:p>
          <a:p>
            <a:pPr marL="0" indent="0">
              <a:spcBef>
                <a:spcPts val="1400"/>
              </a:spcBef>
              <a:spcAft>
                <a:spcPts val="400"/>
              </a:spcAft>
            </a:pPr>
            <a:r>
              <a:rPr b="1">
                <a:solidFill>
                  <a:srgbClr val="1F1F1F"/>
                </a:solidFill>
                <a:latin typeface="+mj-lt"/>
                <a:ea typeface="Google Sans Flex"/>
                <a:cs typeface="+mj-lt"/>
                <a:sym typeface="+mn-ea"/>
              </a:rPr>
              <a:t>1.1 Project Overview</a:t>
            </a:r>
            <a:endParaRPr b="1" i="0">
              <a:solidFill>
                <a:srgbClr val="1F1F1F"/>
              </a:solidFill>
              <a:latin typeface="+mj-lt"/>
              <a:ea typeface="Google Sans Flex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>
                <a:solidFill>
                  <a:srgbClr val="1F1F1F"/>
                </a:solidFill>
                <a:latin typeface="+mj-lt"/>
                <a:ea typeface="Google Sans Flex"/>
                <a:cs typeface="+mj-lt"/>
                <a:sym typeface="+mn-ea"/>
              </a:rPr>
              <a:t>The Mining Maintenance and Tracking System (MMTS) is designed to manage equipment, track maintenance and repair history, and assign operators. The system utilizes Oracle PL/SQL for data interaction and automation.</a:t>
            </a:r>
            <a:endParaRPr b="0" i="0">
              <a:solidFill>
                <a:srgbClr val="1F1F1F"/>
              </a:solidFill>
              <a:latin typeface="+mj-lt"/>
              <a:ea typeface="Google Sans Flex"/>
              <a:cs typeface="+mj-lt"/>
            </a:endParaRPr>
          </a:p>
          <a:p>
            <a:pPr marL="0" indent="0">
              <a:spcBef>
                <a:spcPts val="1400"/>
              </a:spcBef>
              <a:spcAft>
                <a:spcPts val="400"/>
              </a:spcAft>
            </a:pPr>
            <a:r>
              <a:rPr b="1">
                <a:solidFill>
                  <a:srgbClr val="1F1F1F"/>
                </a:solidFill>
                <a:latin typeface="+mj-lt"/>
                <a:ea typeface="Google Sans Flex"/>
                <a:cs typeface="+mj-lt"/>
                <a:sym typeface="+mn-ea"/>
              </a:rPr>
              <a:t>1.2 Table Definitions</a:t>
            </a:r>
            <a:endParaRPr b="1" i="0">
              <a:solidFill>
                <a:srgbClr val="1F1F1F"/>
              </a:solidFill>
              <a:latin typeface="+mj-lt"/>
              <a:ea typeface="Google Sans Flex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>
                <a:solidFill>
                  <a:srgbClr val="1F1F1F"/>
                </a:solidFill>
                <a:latin typeface="+mj-lt"/>
                <a:ea typeface="Google Sans Flex"/>
                <a:cs typeface="+mj-lt"/>
                <a:sym typeface="+mn-ea"/>
              </a:rPr>
              <a:t>The system relies on four primary tables:</a:t>
            </a:r>
            <a:endParaRPr>
              <a:solidFill>
                <a:srgbClr val="1F1F1F"/>
              </a:solidFill>
              <a:latin typeface="+mj-lt"/>
              <a:ea typeface="Google Sans Flex"/>
              <a:cs typeface="+mj-lt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endParaRPr b="0" i="0">
              <a:solidFill>
                <a:srgbClr val="1F1F1F"/>
              </a:solidFill>
              <a:latin typeface="Google Sans Flex"/>
              <a:ea typeface="Google Sans Flex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  <a:buNone/>
            </a:pPr>
            <a:endParaRPr b="0" i="0">
              <a:solidFill>
                <a:srgbClr val="1F1F1F"/>
              </a:solidFill>
              <a:latin typeface="Google Sans Flex"/>
              <a:ea typeface="Google Sans Flex"/>
            </a:endParaRPr>
          </a:p>
          <a:p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3556000" y="-21070571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fontAlgn="t"/>
                      <a:r>
                        <a:rPr sz="1100" b="0">
                          <a:latin typeface="Google Sans Flex"/>
                          <a:ea typeface="Google Sans Flex"/>
                        </a:rPr>
                        <a:t>Table Name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sz="1100" b="0">
                          <a:latin typeface="Google Sans Flex"/>
                          <a:ea typeface="Google Sans Flex"/>
                        </a:rPr>
                        <a:t>Purpose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sz="1100" b="0">
                          <a:latin typeface="Google Sans Flex"/>
                          <a:ea typeface="Google Sans Flex"/>
                        </a:rPr>
                        <a:t>Primary Key (PK)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sz="1100" b="0">
                          <a:latin typeface="Google Sans Flex"/>
                          <a:ea typeface="Google Sans Flex"/>
                        </a:rPr>
                        <a:t>Foreign Key (FK)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fontAlgn="t"/>
                      <a:r>
                        <a:rPr sz="1100" b="1">
                          <a:latin typeface="Google Sans Flex"/>
                          <a:ea typeface="Google Sans Flex"/>
                        </a:rPr>
                        <a:t>EQUIPMENT</a:t>
                      </a:r>
                      <a:endParaRPr sz="1100" b="1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1100" b="0">
                          <a:latin typeface="Google Sans Flex"/>
                          <a:ea typeface="Google Sans Flex"/>
                        </a:rPr>
                        <a:t>Stores details of all mining and diagnostic machinery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.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equipment_id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sz="1100" b="0">
                          <a:latin typeface="Google Sans Flex"/>
                          <a:ea typeface="Google Sans Flex"/>
                        </a:rPr>
                        <a:t>None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fontAlgn="t"/>
                      <a:r>
                        <a:rPr sz="1100" b="1">
                          <a:latin typeface="Google Sans Flex"/>
                          <a:ea typeface="Google Sans Flex"/>
                        </a:rPr>
                        <a:t>MAINTENANCE</a:t>
                      </a:r>
                      <a:endParaRPr sz="1100" b="1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1100" b="0">
                          <a:latin typeface="Google Sans Flex"/>
                          <a:ea typeface="Google Sans Flex"/>
                        </a:rPr>
                        <a:t>Logs planned maintenance activities and due dates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.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maintenance_id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equipment_id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(References EQUIPMENT)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fontAlgn="t"/>
                      <a:r>
                        <a:rPr sz="1100" b="1">
                          <a:latin typeface="Google Sans Flex"/>
                          <a:ea typeface="Google Sans Flex"/>
                        </a:rPr>
                        <a:t>OPERATOR</a:t>
                      </a:r>
                      <a:endParaRPr sz="1100" b="1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1100" b="0">
                          <a:latin typeface="Google Sans Flex"/>
                          <a:ea typeface="Google Sans Flex"/>
                        </a:rPr>
                        <a:t>Tracks personnel and the equipment they are assigned to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.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operator_id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assigned_equipment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(References EQUIPMENT)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fontAlgn="t"/>
                      <a:r>
                        <a:rPr sz="1100" b="1">
                          <a:latin typeface="Google Sans Flex"/>
                          <a:ea typeface="Google Sans Flex"/>
                        </a:rPr>
                        <a:t>REPAIR_HISTORY</a:t>
                      </a:r>
                      <a:endParaRPr sz="1100" b="1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1100" b="0">
                          <a:latin typeface="Google Sans Flex"/>
                          <a:ea typeface="Google Sans Flex"/>
                        </a:rPr>
                        <a:t>Records details of unplanned repair incidents and actions taken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.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repair_id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1100" b="0">
                        <a:latin typeface="Google Sans Flex"/>
                        <a:ea typeface="Google Sans Flex"/>
                      </a:endParaRPr>
                    </a:p>
                    <a:p>
                      <a:pPr marL="0" indent="0" fontAlgn="t"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700" b="0">
                          <a:solidFill>
                            <a:srgbClr val="444746"/>
                          </a:solidFill>
                          <a:latin typeface="Google Sans Flex"/>
                          <a:ea typeface="Google Sans Flex"/>
                        </a:rPr>
                        <a:t>equipment_id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(References EQUIPMENT)</a:t>
                      </a:r>
                      <a:r>
                        <a:rPr sz="1100" b="0">
                          <a:latin typeface="Google Sans Flex"/>
                          <a:ea typeface="Google Sans Flex"/>
                        </a:rPr>
                        <a:t> </a:t>
                      </a:r>
                      <a:endParaRPr sz="1100" b="0">
                        <a:latin typeface="Google Sans Flex"/>
                        <a:ea typeface="Google Sans Flex"/>
                      </a:endParaRPr>
                    </a:p>
                  </a:txBody>
                  <a:tcPr marL="76517" marR="76517" marT="51117" marB="511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30" y="3803650"/>
            <a:ext cx="10490200" cy="2927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635"/>
            <a:ext cx="12192635" cy="6857365"/>
          </a:xfrm>
        </p:spPr>
        <p:txBody>
          <a:bodyPr/>
          <a:p>
            <a:pPr marL="0" indent="0">
              <a:spcBef>
                <a:spcPts val="1400"/>
              </a:spcBef>
              <a:spcAft>
                <a:spcPts val="400"/>
              </a:spcAft>
            </a:pPr>
            <a:r>
              <a:rPr b="1"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1.3 Audit Table</a:t>
            </a:r>
            <a:endParaRPr b="1" i="0">
              <a:solidFill>
                <a:srgbClr val="1F1F1F"/>
              </a:solidFill>
              <a:latin typeface="Calibri Light" panose="020F0302020204030204" charset="0"/>
              <a:ea typeface="Google Sans Flex"/>
              <a:cs typeface="Calibri Light" panose="020F0302020204030204" charset="0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The </a:t>
            </a:r>
            <a:r>
              <a:rPr b="1"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EQUIPMENT_AUDIT</a:t>
            </a:r>
            <a:r>
              <a:rPr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 table is used to log changes to the </a:t>
            </a:r>
            <a:r>
              <a:rPr>
                <a:solidFill>
                  <a:srgbClr val="444746"/>
                </a:solidFill>
                <a:latin typeface="Calibri Light" panose="020F0302020204030204" charset="0"/>
                <a:ea typeface="Google Sans Mono"/>
                <a:cs typeface="Calibri Light" panose="020F0302020204030204" charset="0"/>
                <a:sym typeface="+mn-ea"/>
              </a:rPr>
              <a:t>status</a:t>
            </a:r>
            <a:r>
              <a:rPr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 column in the </a:t>
            </a:r>
            <a:r>
              <a:rPr b="1"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EQUIPMENT</a:t>
            </a:r>
            <a:r>
              <a:rPr>
                <a:solidFill>
                  <a:srgbClr val="1F1F1F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 table, providing an audit trail for critical status changes.</a:t>
            </a:r>
            <a:endParaRPr b="0" i="0">
              <a:solidFill>
                <a:srgbClr val="1F1F1F"/>
              </a:solidFill>
              <a:latin typeface="Calibri Light" panose="020F0302020204030204" charset="0"/>
              <a:ea typeface="Google Sans Flex"/>
              <a:cs typeface="Calibri Light" panose="020F0302020204030204" charset="0"/>
            </a:endParaRPr>
          </a:p>
          <a:p>
            <a:pPr marL="0" indent="0">
              <a:spcBef>
                <a:spcPts val="200"/>
              </a:spcBef>
              <a:spcAft>
                <a:spcPts val="100"/>
              </a:spcAft>
            </a:pPr>
            <a:r>
              <a:rPr>
                <a:solidFill>
                  <a:srgbClr val="444746"/>
                </a:solidFill>
                <a:latin typeface="Calibri Light" panose="020F0302020204030204" charset="0"/>
                <a:ea typeface="Google Sans Flex"/>
                <a:cs typeface="Calibri Light" panose="020F0302020204030204" charset="0"/>
                <a:sym typeface="+mn-ea"/>
              </a:rPr>
              <a:t>SQL</a:t>
            </a:r>
            <a:endParaRPr b="0" i="0">
              <a:solidFill>
                <a:srgbClr val="444746"/>
              </a:solidFill>
              <a:latin typeface="Calibri Light" panose="020F0302020204030204" charset="0"/>
              <a:ea typeface="Google Sans Flex"/>
              <a:cs typeface="Calibri Light" panose="020F0302020204030204" charset="0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>
                <a:solidFill>
                  <a:srgbClr val="8430CE"/>
                </a:solidFill>
                <a:latin typeface="Calibri Light" panose="020F0302020204030204" charset="0"/>
                <a:ea typeface="0.875rem / 1.3125rem google sans code"/>
                <a:cs typeface="Calibri Light" panose="020F0302020204030204" charset="0"/>
                <a:sym typeface="+mn-ea"/>
              </a:rPr>
              <a:t>CREATETABLE</a:t>
            </a:r>
            <a:r>
              <a:rPr>
                <a:solidFill>
                  <a:srgbClr val="B55908"/>
                </a:solidFill>
                <a:latin typeface="Calibri Light" panose="020F0302020204030204" charset="0"/>
                <a:ea typeface="0.875rem / 1.3125rem google sans code"/>
                <a:cs typeface="Calibri Light" panose="020F0302020204030204" charset="0"/>
                <a:sym typeface="+mn-ea"/>
              </a:rPr>
              <a:t>584</a:t>
            </a:r>
            <a:r>
              <a:rPr>
                <a:solidFill>
                  <a:srgbClr val="8430CE"/>
                </a:solidFill>
                <a:latin typeface="Calibri Light" panose="020F0302020204030204" charset="0"/>
                <a:ea typeface="0.875rem / 1.3125rem google sans code"/>
                <a:cs typeface="Calibri Light" panose="020F0302020204030204" charset="0"/>
                <a:sym typeface="+mn-ea"/>
              </a:rPr>
              <a:t>BYDEFAULTASIDENTITY</a:t>
            </a:r>
            <a:r>
              <a:rPr>
                <a:solidFill>
                  <a:srgbClr val="B55908"/>
                </a:solidFill>
                <a:latin typeface="Calibri Light" panose="020F0302020204030204" charset="0"/>
                <a:ea typeface="0.875rem / 1.3125rem google sans code"/>
                <a:cs typeface="Calibri Light" panose="020F0302020204030204" charset="0"/>
                <a:sym typeface="+mn-ea"/>
              </a:rPr>
              <a:t>5855862058720588</a:t>
            </a:r>
            <a:r>
              <a:rPr>
                <a:solidFill>
                  <a:srgbClr val="8430CE"/>
                </a:solidFill>
                <a:latin typeface="Calibri Light" panose="020F0302020204030204" charset="0"/>
                <a:ea typeface="0.875rem / 1.3125rem google sans code"/>
                <a:cs typeface="Calibri Light" panose="020F0302020204030204" charset="0"/>
                <a:sym typeface="+mn-ea"/>
              </a:rPr>
              <a:t>DATE</a:t>
            </a:r>
            <a:r>
              <a:rPr>
                <a:solidFill>
                  <a:srgbClr val="B55908"/>
                </a:solidFill>
                <a:latin typeface="Calibri Light" panose="020F0302020204030204" charset="0"/>
                <a:ea typeface="0.875rem / 1.3125rem google sans code"/>
                <a:cs typeface="Calibri Light" panose="020F0302020204030204" charset="0"/>
                <a:sym typeface="+mn-ea"/>
              </a:rPr>
              <a:t>589</a:t>
            </a:r>
            <a:endParaRPr b="0" i="0">
              <a:solidFill>
                <a:srgbClr val="B55908"/>
              </a:solidFill>
              <a:latin typeface="Calibri Light" panose="020F0302020204030204" charset="0"/>
              <a:ea typeface="0.875rem / 1.3125rem google sans code"/>
              <a:cs typeface="Calibri Light" panose="020F0302020204030204" charset="0"/>
            </a:endParaRPr>
          </a:p>
          <a:p>
            <a:pPr marL="0" indent="0">
              <a:buNone/>
            </a:pPr>
            <a:endParaRPr lang="en-US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0"/>
            <a:ext cx="12192635" cy="68573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700"/>
              <a:t> </a:t>
            </a:r>
            <a:r>
              <a:rPr lang="en-US" altLang="en-US" sz="1700" b="1"/>
              <a:t>Stored Procedures &amp; Functions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 b="1"/>
              <a:t>2.1 Stored Procedures (DML Automation)</a:t>
            </a:r>
            <a:endParaRPr lang="en-US" altLang="en-US" sz="1700" b="1"/>
          </a:p>
          <a:p>
            <a:pPr marL="0" indent="0">
              <a:buNone/>
            </a:pPr>
            <a:r>
              <a:rPr lang="en-US" altLang="en-US" sz="1700" b="1"/>
              <a:t>    1.</a:t>
            </a:r>
            <a:r>
              <a:rPr lang="" altLang="en-US" sz="1700" b="1"/>
              <a:t> </a:t>
            </a:r>
            <a:r>
              <a:rPr lang="en-US" altLang="en-US" sz="1700" b="1"/>
              <a:t>ADD_EQUIPMENT</a:t>
            </a:r>
            <a:endParaRPr lang="en-US" altLang="en-US" sz="1700" b="1"/>
          </a:p>
          <a:p>
            <a:r>
              <a:rPr lang="en-US" altLang="en-US" sz="1700"/>
              <a:t>Purpose:</a:t>
            </a:r>
            <a:r>
              <a:rPr lang="" altLang="en-US" sz="1700"/>
              <a:t> </a:t>
            </a:r>
            <a:r>
              <a:rPr lang="en-US" altLang="en-US" sz="1700"/>
              <a:t>Inserts a new equipment record into the</a:t>
            </a:r>
            <a:r>
              <a:rPr lang="" altLang="en-US" sz="1700"/>
              <a:t> </a:t>
            </a:r>
            <a:r>
              <a:rPr lang="en-US" altLang="en-US" sz="1700"/>
              <a:t>EQUIPMENT</a:t>
            </a:r>
            <a:r>
              <a:rPr lang="" altLang="en-US" sz="1700"/>
              <a:t> </a:t>
            </a:r>
            <a:r>
              <a:rPr lang="en-US" altLang="en-US" sz="1700"/>
              <a:t>table, recording the</a:t>
            </a:r>
            <a:r>
              <a:rPr lang="" altLang="en-US" sz="1700"/>
              <a:t> </a:t>
            </a:r>
            <a:r>
              <a:rPr lang="en-US" altLang="en-US" sz="1700"/>
              <a:t>equipment_id,</a:t>
            </a:r>
            <a:r>
              <a:rPr lang="" altLang="en-US" sz="1700"/>
              <a:t> </a:t>
            </a:r>
            <a:r>
              <a:rPr lang="en-US" altLang="en-US" sz="1700"/>
              <a:t>name,</a:t>
            </a:r>
            <a:r>
              <a:rPr lang="" altLang="en-US" sz="1700"/>
              <a:t> </a:t>
            </a:r>
            <a:r>
              <a:rPr lang="en-US" altLang="en-US" sz="1700"/>
              <a:t>type, and</a:t>
            </a:r>
            <a:r>
              <a:rPr lang="" altLang="en-US" sz="1700"/>
              <a:t> </a:t>
            </a:r>
            <a:r>
              <a:rPr lang="en-US" altLang="en-US" sz="1700"/>
              <a:t>status.</a:t>
            </a:r>
            <a:endParaRPr lang="en-US" altLang="en-US" sz="1700"/>
          </a:p>
          <a:p>
            <a:r>
              <a:rPr lang="en-US" altLang="en-US" sz="1700"/>
              <a:t>Testing:</a:t>
            </a:r>
            <a:r>
              <a:rPr lang="" altLang="en-US" sz="1700"/>
              <a:t> </a:t>
            </a:r>
            <a:r>
              <a:rPr lang="en-US" altLang="en-US" sz="1700"/>
              <a:t>Successfully tested by inserting Equipment ID</a:t>
            </a:r>
            <a:r>
              <a:rPr lang="" altLang="en-US" sz="1700"/>
              <a:t> </a:t>
            </a:r>
            <a:r>
              <a:rPr lang="en-US" altLang="en-US" sz="1700"/>
              <a:t>101</a:t>
            </a:r>
            <a:r>
              <a:rPr lang="" altLang="en-US" sz="1700"/>
              <a:t> </a:t>
            </a:r>
            <a:r>
              <a:rPr lang="en-US" altLang="en-US" sz="1700"/>
              <a:t>('Excavator') and</a:t>
            </a:r>
            <a:r>
              <a:rPr lang="" altLang="en-US" sz="1700"/>
              <a:t> </a:t>
            </a:r>
            <a:r>
              <a:rPr lang="en-US" altLang="en-US" sz="1700"/>
              <a:t>102</a:t>
            </a:r>
            <a:r>
              <a:rPr lang="" altLang="en-US" sz="1700"/>
              <a:t> </a:t>
            </a:r>
            <a:r>
              <a:rPr lang="en-US" altLang="en-US" sz="1700"/>
              <a:t>('Bulldozer').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 b="1"/>
              <a:t>    2.</a:t>
            </a:r>
            <a:r>
              <a:rPr lang="" altLang="en-US" sz="1700" b="1"/>
              <a:t> </a:t>
            </a:r>
            <a:r>
              <a:rPr lang="en-US" altLang="en-US" sz="1700" b="1"/>
              <a:t>UPDATE_EQUIPMENT_STATUS</a:t>
            </a:r>
            <a:endParaRPr lang="en-US" altLang="en-US" sz="1700" b="1"/>
          </a:p>
          <a:p>
            <a:r>
              <a:rPr lang="en-US" altLang="en-US" sz="1700"/>
              <a:t>Purpose:</a:t>
            </a:r>
            <a:r>
              <a:rPr lang="" altLang="en-US" sz="1700"/>
              <a:t> </a:t>
            </a:r>
            <a:r>
              <a:rPr lang="en-US" altLang="en-US" sz="1700"/>
              <a:t>Updates the</a:t>
            </a:r>
            <a:r>
              <a:rPr lang="" altLang="en-US" sz="1700"/>
              <a:t> </a:t>
            </a:r>
            <a:r>
              <a:rPr lang="en-US" altLang="en-US" sz="1700"/>
              <a:t>status</a:t>
            </a:r>
            <a:r>
              <a:rPr lang="" altLang="en-US" sz="1700"/>
              <a:t> </a:t>
            </a:r>
            <a:r>
              <a:rPr lang="en-US" altLang="en-US" sz="1700"/>
              <a:t>field for a specified</a:t>
            </a:r>
            <a:r>
              <a:rPr lang="" altLang="en-US" sz="1700"/>
              <a:t> </a:t>
            </a:r>
            <a:r>
              <a:rPr lang="en-US" altLang="en-US" sz="1700"/>
              <a:t>equipment_id.</a:t>
            </a:r>
            <a:endParaRPr lang="en-US" altLang="en-US" sz="1700"/>
          </a:p>
          <a:p>
            <a:r>
              <a:rPr lang="en-US" altLang="en-US" sz="1700"/>
              <a:t>Logic:</a:t>
            </a:r>
            <a:r>
              <a:rPr lang="" altLang="en-US" sz="1700"/>
              <a:t> </a:t>
            </a:r>
            <a:r>
              <a:rPr lang="en-US" altLang="en-US" sz="1700"/>
              <a:t>Uses</a:t>
            </a:r>
            <a:r>
              <a:rPr lang="" altLang="en-US" sz="1700"/>
              <a:t> </a:t>
            </a:r>
            <a:r>
              <a:rPr lang="en-US" altLang="en-US" sz="1700"/>
              <a:t>SQL%FOUND</a:t>
            </a:r>
            <a:r>
              <a:rPr lang="" altLang="en-US" sz="1700"/>
              <a:t> </a:t>
            </a:r>
            <a:r>
              <a:rPr lang="en-US" altLang="en-US" sz="1700"/>
              <a:t>to confirm if an equipment record was updated.</a:t>
            </a:r>
            <a:endParaRPr lang="en-US" altLang="en-US" sz="1700"/>
          </a:p>
          <a:p>
            <a:r>
              <a:rPr lang="en-US" altLang="en-US" sz="1700"/>
              <a:t>Testing:</a:t>
            </a:r>
            <a:r>
              <a:rPr lang="" altLang="en-US" sz="1700"/>
              <a:t> </a:t>
            </a:r>
            <a:r>
              <a:rPr lang="en-US" altLang="en-US" sz="1700"/>
              <a:t>Successfully tested by changing Equipment</a:t>
            </a:r>
            <a:r>
              <a:rPr lang="" altLang="en-US" sz="1700"/>
              <a:t> </a:t>
            </a:r>
            <a:r>
              <a:rPr lang="en-US" altLang="en-US" sz="1700"/>
              <a:t>101's status to 'Maintenance', which is expected to trigger the auditing mechanism.</a:t>
            </a:r>
            <a:r>
              <a:rPr lang="" altLang="en-US" sz="1700"/>
              <a:t> </a:t>
            </a:r>
            <a:r>
              <a:rPr lang="en-US" altLang="en-US" sz="1700"/>
              <a:t>Also tested a failed update with Equipment ID</a:t>
            </a:r>
            <a:r>
              <a:rPr lang="" altLang="en-US" sz="1700"/>
              <a:t> </a:t>
            </a:r>
            <a:r>
              <a:rPr lang="en-US" altLang="en-US" sz="1700"/>
              <a:t>999.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 b="1"/>
              <a:t> 2.2 Stored Functions (Data Retrieval &amp; Calculation)</a:t>
            </a:r>
            <a:endParaRPr lang="en-US" altLang="en-US" sz="1700" b="1"/>
          </a:p>
          <a:p>
            <a:pPr marL="0" indent="0">
              <a:buNone/>
            </a:pPr>
            <a:r>
              <a:rPr lang="en-US" altLang="en-US" sz="1700" b="1"/>
              <a:t>   1.</a:t>
            </a:r>
            <a:r>
              <a:rPr lang="" altLang="en-US" sz="1700" b="1"/>
              <a:t> </a:t>
            </a:r>
            <a:r>
              <a:rPr lang="en-US" altLang="en-US" sz="1700" b="1"/>
              <a:t>COUNT_ACTIVE_EQUIPMENT</a:t>
            </a:r>
            <a:endParaRPr lang="en-US" altLang="en-US" sz="1700" b="1"/>
          </a:p>
          <a:p>
            <a:r>
              <a:rPr lang="en-US" altLang="en-US" sz="1700"/>
              <a:t>Purpose:</a:t>
            </a:r>
            <a:r>
              <a:rPr lang="" altLang="en-US" sz="1700"/>
              <a:t> </a:t>
            </a:r>
            <a:r>
              <a:rPr lang="en-US" altLang="en-US" sz="1700"/>
              <a:t>Returns the total count of equipment records where the</a:t>
            </a:r>
            <a:r>
              <a:rPr lang="" altLang="en-US" sz="1700"/>
              <a:t> </a:t>
            </a:r>
            <a:r>
              <a:rPr lang="en-US" altLang="en-US" sz="1700"/>
              <a:t>status</a:t>
            </a:r>
            <a:r>
              <a:rPr lang="" altLang="en-US" sz="1700"/>
              <a:t> </a:t>
            </a:r>
            <a:r>
              <a:rPr lang="en-US" altLang="en-US" sz="1700"/>
              <a:t>is 'Active'.</a:t>
            </a:r>
            <a:endParaRPr lang="en-US" altLang="en-US" sz="1700"/>
          </a:p>
          <a:p>
            <a:r>
              <a:rPr lang="en-US" altLang="en-US" sz="1700"/>
              <a:t>Return Type:</a:t>
            </a:r>
            <a:r>
              <a:rPr lang="" altLang="en-US" sz="1700"/>
              <a:t> </a:t>
            </a:r>
            <a:r>
              <a:rPr lang="en-US" altLang="en-US" sz="1700"/>
              <a:t>NUMBER.</a:t>
            </a:r>
            <a:endParaRPr lang="en-US" altLang="en-US" sz="1700"/>
          </a:p>
          <a:p>
            <a:r>
              <a:rPr lang="en-US" altLang="en-US" sz="1700"/>
              <a:t>Testing:</a:t>
            </a:r>
            <a:r>
              <a:rPr lang="" altLang="en-US" sz="1700"/>
              <a:t> </a:t>
            </a:r>
            <a:r>
              <a:rPr lang="en-US" altLang="en-US" sz="1700"/>
              <a:t>Tested by retrieving the current count of active equipment records.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  </a:t>
            </a:r>
            <a:r>
              <a:rPr lang="en-US" altLang="en-US" sz="1700" b="1"/>
              <a:t> 2.</a:t>
            </a:r>
            <a:r>
              <a:rPr lang="" altLang="en-US" sz="1700" b="1"/>
              <a:t> </a:t>
            </a:r>
            <a:r>
              <a:rPr lang="en-US" altLang="en-US" sz="1700" b="1"/>
              <a:t>GET_OPERATOR_NAME</a:t>
            </a:r>
            <a:endParaRPr lang="en-US" altLang="en-US" sz="1700" b="1"/>
          </a:p>
          <a:p>
            <a:r>
              <a:rPr lang="en-US" altLang="en-US" sz="1700"/>
              <a:t>Purpose:</a:t>
            </a:r>
            <a:r>
              <a:rPr lang="" altLang="en-US" sz="1700"/>
              <a:t> </a:t>
            </a:r>
            <a:r>
              <a:rPr lang="en-US" altLang="en-US" sz="1700"/>
              <a:t>Retrieves the</a:t>
            </a:r>
            <a:r>
              <a:rPr lang="" altLang="en-US" sz="1700"/>
              <a:t> </a:t>
            </a:r>
            <a:r>
              <a:rPr lang="en-US" altLang="en-US" sz="1700"/>
              <a:t>name</a:t>
            </a:r>
            <a:r>
              <a:rPr lang="" altLang="en-US" sz="1700"/>
              <a:t> </a:t>
            </a:r>
            <a:r>
              <a:rPr lang="en-US" altLang="en-US" sz="1700"/>
              <a:t>of the operator currently assigned to a given</a:t>
            </a:r>
            <a:r>
              <a:rPr lang="" altLang="en-US" sz="1700"/>
              <a:t> </a:t>
            </a:r>
            <a:r>
              <a:rPr lang="en-US" altLang="en-US" sz="1700"/>
              <a:t>equipment_id.</a:t>
            </a:r>
            <a:endParaRPr lang="en-US" altLang="en-US" sz="1700"/>
          </a:p>
          <a:p>
            <a:r>
              <a:rPr lang="en-US" altLang="en-US" sz="1700"/>
              <a:t>Return Type:</a:t>
            </a:r>
            <a:r>
              <a:rPr lang="" altLang="en-US" sz="1700"/>
              <a:t> </a:t>
            </a:r>
            <a:r>
              <a:rPr lang="en-US" altLang="en-US" sz="1700"/>
              <a:t>VARCHAR2.</a:t>
            </a:r>
            <a:endParaRPr lang="en-US" altLang="en-US" sz="1700"/>
          </a:p>
          <a:p>
            <a:r>
              <a:rPr lang="en-US" altLang="en-US" sz="1700"/>
              <a:t>Testing:</a:t>
            </a:r>
            <a:r>
              <a:rPr lang="" altLang="en-US" sz="1700"/>
              <a:t> </a:t>
            </a:r>
            <a:r>
              <a:rPr lang="en-US" altLang="en-US" sz="1700"/>
              <a:t>Tested for equipment ID</a:t>
            </a:r>
            <a:r>
              <a:rPr lang="" altLang="en-US" sz="1700"/>
              <a:t> </a:t>
            </a:r>
            <a:r>
              <a:rPr lang="en-US" altLang="en-US" sz="1700"/>
              <a:t>101</a:t>
            </a:r>
            <a:r>
              <a:rPr lang="" altLang="en-US" sz="1700"/>
              <a:t> </a:t>
            </a:r>
            <a:r>
              <a:rPr lang="en-US" altLang="en-US" sz="1700"/>
              <a:t>and</a:t>
            </a:r>
            <a:r>
              <a:rPr lang="" altLang="en-US" sz="1700"/>
              <a:t> </a:t>
            </a:r>
            <a:r>
              <a:rPr lang="en-US" altLang="en-US" sz="1700"/>
              <a:t>102.</a:t>
            </a:r>
            <a:r>
              <a:rPr lang="" altLang="en-US" sz="1700"/>
              <a:t> </a:t>
            </a:r>
            <a:r>
              <a:rPr lang="en-US" altLang="en-US" sz="1700"/>
              <a:t>The test code includes exception handling to catch</a:t>
            </a:r>
            <a:r>
              <a:rPr lang="" altLang="en-US" sz="1700"/>
              <a:t> </a:t>
            </a:r>
            <a:r>
              <a:rPr lang="en-US" altLang="en-US" sz="1700"/>
              <a:t>NO_DATA_FOUND</a:t>
            </a:r>
            <a:r>
              <a:rPr lang="" altLang="en-US" sz="1700"/>
              <a:t> </a:t>
            </a:r>
            <a:r>
              <a:rPr lang="en-US" altLang="en-US" sz="1700"/>
              <a:t>if no operator is assigned.</a:t>
            </a:r>
            <a:endParaRPr lang="en-US" altLang="en-US" sz="1700"/>
          </a:p>
          <a:p>
            <a:endParaRPr lang="en-US" alt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-635"/>
            <a:ext cx="12191365" cy="685927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                                                                                                    </a:t>
            </a:r>
            <a:r>
              <a:rPr lang="en-US" altLang="en-US" sz="3335" b="1"/>
              <a:t>Packages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</a:t>
            </a:r>
            <a:r>
              <a:rPr lang="" altLang="en-US"/>
              <a:t> </a:t>
            </a:r>
            <a:r>
              <a:rPr lang="en-US" altLang="en-US"/>
              <a:t>MINING_PKG</a:t>
            </a:r>
            <a:r>
              <a:rPr lang="" altLang="en-US"/>
              <a:t> </a:t>
            </a:r>
            <a:r>
              <a:rPr lang="en-US" altLang="en-US"/>
              <a:t>package groups related functions and procedures for equipment reporting and analysis, promoting modularity and    encapsulation.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   4.1 Package Specification (MINING_PKG)</a:t>
            </a:r>
            <a:endParaRPr lang="en-US" altLang="en-US" b="1"/>
          </a:p>
          <a:p>
            <a:r>
              <a:rPr lang="en-US" altLang="en-US"/>
              <a:t>The specification defines the public interface available to users.</a:t>
            </a:r>
            <a:endParaRPr lang="en-US" altLang="en-US"/>
          </a:p>
          <a:p>
            <a:r>
              <a:rPr lang="en-US" altLang="en-US"/>
              <a:t>FUNCTION total_repairs(p_equipment_id NUMBER):</a:t>
            </a:r>
            <a:r>
              <a:rPr lang="" altLang="en-US"/>
              <a:t> </a:t>
            </a:r>
            <a:r>
              <a:rPr lang="en-US" altLang="en-US"/>
              <a:t>Calculates and returns the total number of repairs recorded for a given equipment ID.</a:t>
            </a:r>
            <a:endParaRPr lang="en-US" altLang="en-US"/>
          </a:p>
          <a:p>
            <a:r>
              <a:rPr lang="en-US" altLang="en-US"/>
              <a:t>PROCEDURE equipment_report(p_equipment_id NUMBER):</a:t>
            </a:r>
            <a:r>
              <a:rPr lang="" altLang="en-US"/>
              <a:t> </a:t>
            </a:r>
            <a:r>
              <a:rPr lang="en-US" altLang="en-US"/>
              <a:t>Displays a comprehensive report for an equipment item, including its details, assigned operator, and repair history.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    4.2 Package Body (MINING_PKG</a:t>
            </a:r>
            <a:r>
              <a:rPr lang="" altLang="en-US" b="1"/>
              <a:t> </a:t>
            </a:r>
            <a:r>
              <a:rPr lang="en-US" altLang="en-US" b="1"/>
              <a:t>Implementation)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    1.</a:t>
            </a:r>
            <a:r>
              <a:rPr lang="" altLang="en-US" b="1"/>
              <a:t> </a:t>
            </a:r>
            <a:r>
              <a:rPr lang="en-US" altLang="en-US" b="1"/>
              <a:t>total_repairs</a:t>
            </a:r>
            <a:r>
              <a:rPr lang="" altLang="en-US" b="1"/>
              <a:t> </a:t>
            </a:r>
            <a:r>
              <a:rPr lang="en-US" altLang="en-US" b="1"/>
              <a:t>Function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</a:t>
            </a:r>
            <a:r>
              <a:rPr lang="en-US" altLang="en-US" b="1"/>
              <a:t> Logic:</a:t>
            </a:r>
            <a:r>
              <a:rPr lang="" altLang="en-US" b="1"/>
              <a:t> </a:t>
            </a:r>
            <a:r>
              <a:rPr lang="en-US" altLang="en-US"/>
              <a:t>Uses</a:t>
            </a:r>
            <a:r>
              <a:rPr lang="" altLang="en-US"/>
              <a:t> </a:t>
            </a:r>
            <a:r>
              <a:rPr lang="en-US" altLang="en-US"/>
              <a:t>COUNT(*)</a:t>
            </a:r>
            <a:r>
              <a:rPr lang="" altLang="en-US"/>
              <a:t> </a:t>
            </a:r>
            <a:r>
              <a:rPr lang="en-US" altLang="en-US"/>
              <a:t>on the</a:t>
            </a:r>
            <a:r>
              <a:rPr lang="" altLang="en-US"/>
              <a:t> </a:t>
            </a:r>
            <a:r>
              <a:rPr lang="en-US" altLang="en-US"/>
              <a:t>REPAIR</a:t>
            </a:r>
            <a:r>
              <a:rPr lang="" altLang="en-US"/>
              <a:t> </a:t>
            </a:r>
            <a:r>
              <a:rPr lang="en-US" altLang="en-US"/>
              <a:t>table (error in source uses</a:t>
            </a:r>
            <a:r>
              <a:rPr lang="" altLang="en-US"/>
              <a:t> </a:t>
            </a:r>
            <a:r>
              <a:rPr lang="en-US" altLang="en-US"/>
              <a:t>REPAIR</a:t>
            </a:r>
            <a:r>
              <a:rPr lang="" altLang="en-US"/>
              <a:t> </a:t>
            </a:r>
            <a:r>
              <a:rPr lang="en-US" altLang="en-US"/>
              <a:t>instead of</a:t>
            </a:r>
            <a:r>
              <a:rPr lang="" altLang="en-US"/>
              <a:t> </a:t>
            </a:r>
            <a:r>
              <a:rPr lang="en-US" altLang="en-US"/>
              <a:t>REPAIR_HISTORY</a:t>
            </a:r>
            <a:r>
              <a:rPr lang="" altLang="en-US"/>
              <a:t> </a:t>
            </a:r>
            <a:r>
              <a:rPr lang="en-US" altLang="en-US"/>
              <a:t>) filtered by the input</a:t>
            </a:r>
            <a:r>
              <a:rPr lang="" altLang="en-US"/>
              <a:t> </a:t>
            </a:r>
            <a:r>
              <a:rPr lang="en-US" altLang="en-US"/>
              <a:t>equipment_id.</a:t>
            </a:r>
            <a:endParaRPr lang="en-US" altLang="en-US"/>
          </a:p>
          <a:p>
            <a:r>
              <a:rPr lang="en-US" altLang="en-US"/>
              <a:t>Testing:</a:t>
            </a:r>
            <a:r>
              <a:rPr lang="" altLang="en-US"/>
              <a:t> </a:t>
            </a:r>
            <a:r>
              <a:rPr lang="en-US" altLang="en-US"/>
              <a:t>Tested successfully for Equipment ID</a:t>
            </a:r>
            <a:r>
              <a:rPr lang="" altLang="en-US"/>
              <a:t> </a:t>
            </a:r>
            <a:r>
              <a:rPr lang="en-US" altLang="en-US"/>
              <a:t>101, retrieving the total number of repairs.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    2.</a:t>
            </a:r>
            <a:r>
              <a:rPr lang="" altLang="en-US" b="1"/>
              <a:t> </a:t>
            </a:r>
            <a:r>
              <a:rPr lang="en-US" altLang="en-US" b="1"/>
              <a:t>equipment_report</a:t>
            </a:r>
            <a:r>
              <a:rPr lang="" altLang="en-US" b="1"/>
              <a:t> </a:t>
            </a:r>
            <a:r>
              <a:rPr lang="en-US" altLang="en-US" b="1"/>
              <a:t>Procedure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  Logic:</a:t>
            </a:r>
            <a:endParaRPr lang="en-US" altLang="en-US" b="1"/>
          </a:p>
          <a:p>
            <a:r>
              <a:rPr lang="en-US" altLang="en-US"/>
              <a:t>Step 1:</a:t>
            </a:r>
            <a:r>
              <a:rPr lang="" altLang="en-US"/>
              <a:t> </a:t>
            </a:r>
            <a:r>
              <a:rPr lang="en-US" altLang="en-US"/>
              <a:t>Fetches and displays Equipment details using a</a:t>
            </a:r>
            <a:r>
              <a:rPr lang="" altLang="en-US"/>
              <a:t> </a:t>
            </a:r>
            <a:r>
              <a:rPr lang="en-US" altLang="en-US"/>
              <a:t>SELECT INTO</a:t>
            </a:r>
            <a:r>
              <a:rPr lang="" altLang="en-US"/>
              <a:t> </a:t>
            </a:r>
            <a:r>
              <a:rPr lang="en-US" altLang="en-US"/>
              <a:t>statement.</a:t>
            </a:r>
            <a:endParaRPr lang="en-US" altLang="en-US"/>
          </a:p>
          <a:p>
            <a:r>
              <a:rPr lang="en-US" altLang="en-US"/>
              <a:t>Step 2:</a:t>
            </a:r>
            <a:r>
              <a:rPr lang="" altLang="en-US"/>
              <a:t> </a:t>
            </a:r>
            <a:r>
              <a:rPr lang="en-US" altLang="en-US"/>
              <a:t>Fetches the assigned Operator's name with</a:t>
            </a:r>
            <a:r>
              <a:rPr lang="" altLang="en-US"/>
              <a:t> </a:t>
            </a:r>
            <a:r>
              <a:rPr lang="en-US" altLang="en-US"/>
              <a:t>exception handling</a:t>
            </a:r>
            <a:r>
              <a:rPr lang="" altLang="en-US"/>
              <a:t> </a:t>
            </a:r>
            <a:r>
              <a:rPr lang="en-US" altLang="en-US"/>
              <a:t>(WHEN NO_DATA_FOUND) for unassigned equipment.</a:t>
            </a:r>
            <a:endParaRPr lang="en-US" altLang="en-US"/>
          </a:p>
          <a:p>
            <a:r>
              <a:rPr lang="en-US" altLang="en-US"/>
              <a:t>Step 3:</a:t>
            </a:r>
            <a:r>
              <a:rPr lang="" altLang="en-US"/>
              <a:t> </a:t>
            </a:r>
            <a:r>
              <a:rPr lang="en-US" altLang="en-US"/>
              <a:t>Lists the Repair History using a</a:t>
            </a:r>
            <a:r>
              <a:rPr lang="" altLang="en-US"/>
              <a:t> </a:t>
            </a:r>
            <a:r>
              <a:rPr lang="en-US" altLang="en-US"/>
              <a:t>Cursor</a:t>
            </a:r>
            <a:r>
              <a:rPr lang="" altLang="en-US"/>
              <a:t> </a:t>
            </a:r>
            <a:r>
              <a:rPr lang="en-US" altLang="en-US"/>
              <a:t>FOR</a:t>
            </a:r>
            <a:r>
              <a:rPr lang="" altLang="en-US"/>
              <a:t> </a:t>
            </a:r>
            <a:r>
              <a:rPr lang="en-US" altLang="en-US"/>
              <a:t>Loop, which implicitly handles</a:t>
            </a:r>
            <a:r>
              <a:rPr lang="" altLang="en-US"/>
              <a:t> </a:t>
            </a:r>
            <a:r>
              <a:rPr lang="en-US" altLang="en-US"/>
              <a:t>OPEN,</a:t>
            </a:r>
            <a:r>
              <a:rPr lang="" altLang="en-US"/>
              <a:t> </a:t>
            </a:r>
            <a:r>
              <a:rPr lang="en-US" altLang="en-US"/>
              <a:t>FETCH, and</a:t>
            </a:r>
            <a:r>
              <a:rPr lang="" altLang="en-US"/>
              <a:t> </a:t>
            </a:r>
            <a:r>
              <a:rPr lang="en-US" altLang="en-US"/>
              <a:t>CLOSE</a:t>
            </a:r>
            <a:r>
              <a:rPr lang="" altLang="en-US"/>
              <a:t> </a:t>
            </a:r>
            <a:r>
              <a:rPr lang="en-US" altLang="en-US"/>
              <a:t>operations.</a:t>
            </a:r>
            <a:endParaRPr lang="en-US" altLang="en-US"/>
          </a:p>
          <a:p>
            <a:r>
              <a:rPr lang="en-US" altLang="en-US"/>
              <a:t>Testing:</a:t>
            </a:r>
            <a:r>
              <a:rPr lang="" altLang="en-US"/>
              <a:t> </a:t>
            </a:r>
            <a:r>
              <a:rPr lang="en-US" altLang="en-US"/>
              <a:t>Tested for Equipment ID</a:t>
            </a:r>
            <a:r>
              <a:rPr lang="" altLang="en-US"/>
              <a:t> </a:t>
            </a:r>
            <a:r>
              <a:rPr lang="en-US" altLang="en-US"/>
              <a:t>101, successfully displaying its details, operator (if assigned), and all associated repair history.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-635"/>
            <a:ext cx="12192635" cy="6858000"/>
          </a:xfrm>
        </p:spPr>
        <p:txBody>
          <a:bodyPr>
            <a:normAutofit fontScale="70000"/>
          </a:bodyPr>
          <a:p>
            <a:pPr marL="0" indent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5.</a:t>
            </a: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Auditing and Triggers</a:t>
            </a:r>
            <a:endParaRPr b="1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1400"/>
              </a:spcBef>
              <a:spcAft>
                <a:spcPts val="400"/>
              </a:spcAft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5.1 Auditing Trigger (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AUDIT_EQUIPMENT_STATUS</a:t>
            </a: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)</a:t>
            </a:r>
            <a:endParaRPr b="1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Purpose: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Automatically captures changes to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status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column of the </a:t>
            </a: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EQUIPMENT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table. This meets the capstone requirement for implementing auditing.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Type: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AFTER UPDATE OF status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Timing: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FOR EACH ROW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Condition: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The trigger fires </a:t>
            </a:r>
            <a:r>
              <a:rPr i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only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when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OLD.status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value is different from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NEW.status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value (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WHEN (OLD.status &lt;&gt; NEW.status)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).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Action: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Inserts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equipment_id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,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old_status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,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new_status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, and the current timestamp (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SYSDATE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) into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EQUIPMENT_AUDIT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table.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200"/>
              </a:spcBef>
              <a:spcAft>
                <a:spcPts val="100"/>
              </a:spcAft>
            </a:pPr>
            <a:r>
              <a:rPr>
                <a:solidFill>
                  <a:srgbClr val="444746"/>
                </a:solidFill>
                <a:ea typeface="Google Sans Flex"/>
                <a:cs typeface="+mn-lt"/>
                <a:sym typeface="+mn-ea"/>
              </a:rPr>
              <a:t>SQL</a:t>
            </a:r>
            <a:endParaRPr b="0" i="0">
              <a:solidFill>
                <a:srgbClr val="444746"/>
              </a:solidFill>
              <a:ea typeface="Google Sans Flex"/>
              <a:cs typeface="+mn-lt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>
                <a:solidFill>
                  <a:srgbClr val="8430CE"/>
                </a:solidFill>
                <a:ea typeface="0.875rem / 1.3125rem google sans code"/>
                <a:cs typeface="+mn-lt"/>
                <a:sym typeface="+mn-ea"/>
              </a:rPr>
              <a:t>CREATEORTRIGGER</a:t>
            </a:r>
            <a:r>
              <a:rPr>
                <a:solidFill>
                  <a:srgbClr val="B55908"/>
                </a:solidFill>
                <a:ea typeface="0.875rem / 1.3125rem google sans code"/>
                <a:cs typeface="+mn-lt"/>
                <a:sym typeface="+mn-ea"/>
              </a:rPr>
              <a:t>593</a:t>
            </a:r>
            <a:r>
              <a:rPr>
                <a:solidFill>
                  <a:srgbClr val="8430CE"/>
                </a:solidFill>
                <a:ea typeface="0.875rem / 1.3125rem google sans code"/>
                <a:cs typeface="+mn-lt"/>
                <a:sym typeface="+mn-ea"/>
              </a:rPr>
              <a:t>OFON</a:t>
            </a:r>
            <a:r>
              <a:rPr>
                <a:solidFill>
                  <a:srgbClr val="B55908"/>
                </a:solidFill>
                <a:ea typeface="0.875rem / 1.3125rem google sans code"/>
                <a:cs typeface="+mn-lt"/>
                <a:sym typeface="+mn-ea"/>
              </a:rPr>
              <a:t>594</a:t>
            </a:r>
            <a:r>
              <a:rPr>
                <a:solidFill>
                  <a:srgbClr val="8430CE"/>
                </a:solidFill>
                <a:ea typeface="0.875rem / 1.3125rem google sans code"/>
                <a:cs typeface="+mn-lt"/>
                <a:sym typeface="+mn-ea"/>
              </a:rPr>
              <a:t>FOREACHROW</a:t>
            </a:r>
            <a:r>
              <a:rPr>
                <a:solidFill>
                  <a:srgbClr val="B55908"/>
                </a:solidFill>
                <a:ea typeface="0.875rem / 1.3125rem google sans code"/>
                <a:cs typeface="+mn-lt"/>
                <a:sym typeface="+mn-ea"/>
              </a:rPr>
              <a:t>595</a:t>
            </a:r>
            <a:r>
              <a:rPr>
                <a:solidFill>
                  <a:srgbClr val="8430CE"/>
                </a:solidFill>
                <a:ea typeface="0.875rem / 1.3125rem google sans code"/>
                <a:cs typeface="+mn-lt"/>
                <a:sym typeface="+mn-ea"/>
              </a:rPr>
              <a:t>WHEN</a:t>
            </a:r>
            <a:r>
              <a:rPr>
                <a:solidFill>
                  <a:srgbClr val="1F1F1F"/>
                </a:solidFill>
                <a:ea typeface="0.875rem / 1.3125rem google sans code"/>
                <a:cs typeface="+mn-lt"/>
                <a:sym typeface="+mn-ea"/>
              </a:rPr>
              <a:t>&lt;&gt;</a:t>
            </a:r>
            <a:r>
              <a:rPr>
                <a:solidFill>
                  <a:srgbClr val="B55908"/>
                </a:solidFill>
                <a:ea typeface="0.875rem / 1.3125rem google sans code"/>
                <a:cs typeface="+mn-lt"/>
                <a:sym typeface="+mn-ea"/>
              </a:rPr>
              <a:t>596</a:t>
            </a:r>
            <a:r>
              <a:rPr>
                <a:solidFill>
                  <a:srgbClr val="8430CE"/>
                </a:solidFill>
                <a:ea typeface="0.875rem / 1.3125rem google sans code"/>
                <a:cs typeface="+mn-lt"/>
                <a:sym typeface="+mn-ea"/>
              </a:rPr>
              <a:t>BEGININSERTINTOVALUESEND</a:t>
            </a:r>
            <a:endParaRPr b="0" i="0">
              <a:solidFill>
                <a:srgbClr val="8430CE"/>
              </a:solidFill>
              <a:ea typeface="0.875rem / 1.3125rem google sans code"/>
              <a:cs typeface="+mn-lt"/>
            </a:endParaRPr>
          </a:p>
          <a:p>
            <a:pPr marL="0" indent="0">
              <a:spcBef>
                <a:spcPts val="1400"/>
              </a:spcBef>
              <a:spcAft>
                <a:spcPts val="400"/>
              </a:spcAft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5.2 Trigger Testing</a:t>
            </a:r>
            <a:endParaRPr b="1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Status Update: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The procedure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update_equipment_status(101, 'Active')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was executed to change Equipment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101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's status. Since Equipment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101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was previously set to 'Maintenance' , this update successfully fired the trigger.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b="1"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Audit Log Verification: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A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SELECT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query on the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EQUIPMENT_AUDIT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table for </a:t>
            </a:r>
            <a:r>
              <a:rPr>
                <a:solidFill>
                  <a:srgbClr val="444746"/>
                </a:solidFill>
                <a:ea typeface="Google Sans Mono"/>
                <a:cs typeface="+mn-lt"/>
                <a:sym typeface="+mn-ea"/>
              </a:rPr>
              <a:t>equipment_id = 101</a:t>
            </a:r>
            <a:r>
              <a:rPr>
                <a:solidFill>
                  <a:srgbClr val="1F1F1F"/>
                </a:solidFill>
                <a:ea typeface="Google Sans Flex"/>
                <a:cs typeface="+mn-lt"/>
                <a:sym typeface="+mn-ea"/>
              </a:rPr>
              <a:t> confirms that a new row was inserted, logging the change from 'Maintenance' to 'Active'. The audit log confirms that the auditing mechanism is functioning correctly.</a:t>
            </a:r>
            <a:endParaRPr b="0" i="0">
              <a:solidFill>
                <a:srgbClr val="1F1F1F"/>
              </a:solidFill>
              <a:ea typeface="Google Sans Flex"/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4756</Words>
  <Application>WPS Presentation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Google Sans Flex</vt:lpstr>
      <vt:lpstr>Google Sans Mono</vt:lpstr>
      <vt:lpstr>0.875rem / 1.3125rem google sans code</vt:lpstr>
      <vt:lpstr>Arial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Regine pacis Igihozo</cp:lastModifiedBy>
  <cp:revision>3</cp:revision>
  <dcterms:created xsi:type="dcterms:W3CDTF">2025-07-23T00:59:00Z</dcterms:created>
  <dcterms:modified xsi:type="dcterms:W3CDTF">2025-12-06T10:34:27Z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A80F54E7B2A74F04A6669BE0DAC9807C_11</vt:lpwstr>
  </property>
  <property fmtid="{D5CDD505-2E9C-101B-9397-08002B2CF9AE}" pid="3" name="KSOProductBuildVer">
    <vt:lpwstr>1033-12.2.0.23155</vt:lpwstr>
  </property>
</Properties>
</file>