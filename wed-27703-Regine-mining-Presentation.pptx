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89705" y="2088515"/>
            <a:ext cx="7292340" cy="2386965"/>
          </a:xfrm>
        </p:spPr>
        <p:txBody>
          <a:bodyPr/>
          <a:lstStyle/>
          <a:p>
            <a:pPr algn="ctr"/>
            <a:r>
              <a:rPr lang="en-US" altLang="en-US" sz="1800" b="1" i="1">
                <a:latin typeface="Calibri" panose="020F0502020204030204" charset="0"/>
                <a:cs typeface="Calibri" panose="020F0502020204030204" charset="0"/>
              </a:rPr>
              <a:t>Project: Mining Machines Maintenance &amp; Tracking System</a:t>
            </a:r>
            <a:endParaRPr lang="en-US" altLang="en-US" sz="1800" b="1" i="1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endParaRPr lang="en-US" altLang="en-US" sz="1800" b="1" i="1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altLang="en-US" sz="1800" b="1" i="1">
                <a:latin typeface="Calibri" panose="020F0502020204030204" charset="0"/>
                <a:cs typeface="Calibri" panose="020F0502020204030204" charset="0"/>
              </a:rPr>
              <a:t>Presenter: Regine Pacis Igihozo</a:t>
            </a:r>
            <a:endParaRPr lang="en-US" altLang="en-US" sz="1800" b="1" i="1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endParaRPr lang="en-US" altLang="en-US" sz="1800" b="1" i="1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altLang="en-US" sz="1800" b="1" i="1">
                <a:latin typeface="Calibri" panose="020F0502020204030204" charset="0"/>
                <a:cs typeface="Calibri" panose="020F0502020204030204" charset="0"/>
              </a:rPr>
              <a:t>Date: 21/12/2025</a:t>
            </a:r>
            <a:endParaRPr lang="en-US" altLang="en-US" sz="1800" b="1" i="1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endParaRPr lang="en-US" altLang="en-US" sz="1800" b="1" i="1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lang="en-US" altLang="en-US" sz="1800" b="1" i="1">
                <a:latin typeface="Calibri" panose="020F0502020204030204" charset="0"/>
                <a:cs typeface="Calibri" panose="020F0502020204030204" charset="0"/>
              </a:rPr>
              <a:t>Institution: AUCA</a:t>
            </a:r>
            <a:endParaRPr lang="en-US" altLang="en-US" sz="1800" b="1" i="1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826635" y="751840"/>
            <a:ext cx="5727065" cy="1182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5" name="Picture 4" descr="AUCA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635" y="752475"/>
            <a:ext cx="5409565" cy="11817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Problem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Mining machine downtime leads to high costs and reduced productivity.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Current tracking is manual, error-prone, and inefficient.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Delayed maintenance increases repair expenses and shortens machine lifespan.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Target users: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Technicians, Operations Managers, Supervisors, Finance.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SOLUTION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Objective: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Automate machine tracking and maintenance scheduling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Scope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: On-site tracking, mobile &amp; desktop access, integration with inventory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Features: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Preventive maintenance alerts, repair logging, operator tracking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Expected Outcome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: Reduced downtime, optimized resources, enhanced productivity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DATABASE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2832100"/>
          </a:xfrm>
        </p:spPr>
        <p:txBody>
          <a:bodyPr/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Core entities: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Equipment, Maintenance, Repair History, Operator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Relationships: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Equipment → Maintenance (1:N), Equipment → Repair History (1:N), Equipment → Operator (1:N)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ER diagram represents database structure and cardinalities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Enables accurate logging, reporting, and analytics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3873500"/>
            <a:ext cx="12192000" cy="2984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5" name="Picture 4" descr="Screenshot 2025-12-07 2107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270" y="4007485"/>
            <a:ext cx="6443980" cy="2851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BUSINESS PROCESS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" y="1018540"/>
            <a:ext cx="9852025" cy="4032885"/>
          </a:xfrm>
        </p:spPr>
        <p:txBody>
          <a:bodyPr/>
          <a:p>
            <a:pPr marL="0" indent="0">
              <a:buNone/>
            </a:pPr>
            <a:r>
              <a:rPr lang="en-US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This Mining Equipment Maintenance and Tracking System integrates PL/SQL automation with structured business workflows, ensuring efficient asset management, operator accountability, and maintenance compliance. By centralizing equipment data and automating scheduling, managers gain real-time insights to optimize mining operations. Decision points and swimlanes clarify responsibilities, while BI reporting supports strategic decision-making and operational efficiency.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Maintenance request initiated by operator or system alert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Technician performs maintenance and logs repair details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Supervisor/Manager reviews logs and approves actions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Workflow ensures machines are always operational and tracked.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Picture 4" descr="ChatGPT Image Dec 7, 2025, 08_05_36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6065" y="3032760"/>
            <a:ext cx="5576570" cy="38246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TECHNICAL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" y="911860"/>
            <a:ext cx="10972800" cy="2458085"/>
          </a:xfrm>
        </p:spPr>
        <p:txBody>
          <a:bodyPr/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Backend: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Oracle Database, PL/SQL for stored procedures and packages.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Frontend: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Web interface / desktop app for maintenance logging.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Technologies: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SQL queries, triggers, forms, reports.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Integrates with inventory and production systems.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Picture 3" descr="procedure(status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3905" y="3429000"/>
            <a:ext cx="5697855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ADVANCED FEATURES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72795"/>
            <a:ext cx="8402320" cy="2696210"/>
          </a:xfrm>
        </p:spPr>
        <p:txBody>
          <a:bodyPr/>
          <a:p>
            <a:pPr marL="0" indent="0">
              <a:buNone/>
            </a:pP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Triggers automatically log maintenance and repair activities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Auditing: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track changes, old vs new values for compliance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Security: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role-based access for Operators, Technicians, Managers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Automated notifications for upcoming maintenance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BI &amp; ANALTICS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Integrating Business Intelligence (BI) into the system allows for advanced analytics that can guide strategic decisions: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  <a:sym typeface="+mn-ea"/>
              </a:rPr>
              <a:t>Predictive Maintenance: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 Use historical data to forecast potential failures before they occur.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  <a:sym typeface="+mn-ea"/>
              </a:rPr>
              <a:t>Performance Analysis: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 Identify machines that are underperforming or consuming excessive resources.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  <a:sym typeface="+mn-ea"/>
              </a:rPr>
              <a:t>Cost Optimization: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 Track maintenance spending and analyze which machines incur higher repair costs.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  <a:sym typeface="+mn-ea"/>
              </a:rPr>
              <a:t>Downtime Trends: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 Visual dashboards can highlight patterns in machine failure by type, operator, or location.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  <a:sym typeface="+mn-ea"/>
              </a:rPr>
              <a:t>Operational Planning: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  <a:sym typeface="+mn-ea"/>
              </a:rPr>
              <a:t>Correlate machine availability with production output to improve scheduling and reduce bottlenecks.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RESULTS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2552065"/>
          </a:xfrm>
        </p:spPr>
        <p:txBody>
          <a:bodyPr/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Sample data: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5+ machines, 10+ maintenance records.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Tests: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Scheduled maintenance alerts triggered correctly, logs accurate.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Screenshots: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Maintenance log form, repair history report, dashboard.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Outcome: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Reduced unplanned downtime, better resource tracking.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Picture 3" descr="C:/Users/LENOVO/Pictures/screenshots/mining/BI/ALL.pngALL"/>
          <p:cNvPicPr>
            <a:picLocks noChangeAspect="1"/>
          </p:cNvPicPr>
          <p:nvPr/>
        </p:nvPicPr>
        <p:blipFill>
          <a:blip r:embed="rId1"/>
          <a:srcRect t="10746" b="10746"/>
          <a:stretch>
            <a:fillRect/>
          </a:stretch>
        </p:blipFill>
        <p:spPr>
          <a:xfrm>
            <a:off x="6191250" y="3616325"/>
            <a:ext cx="6000750" cy="2944495"/>
          </a:xfrm>
          <a:prstGeom prst="rect">
            <a:avLst/>
          </a:prstGeom>
        </p:spPr>
      </p:pic>
      <p:pic>
        <p:nvPicPr>
          <p:cNvPr id="6" name="Picture 5" descr="C:/Users/LENOVO/Pictures/screenshots/mining/BI/equipment_BI.pngequipment_BI"/>
          <p:cNvPicPr>
            <a:picLocks noChangeAspect="1"/>
          </p:cNvPicPr>
          <p:nvPr/>
        </p:nvPicPr>
        <p:blipFill>
          <a:blip r:embed="rId2"/>
          <a:srcRect t="26160" b="26160"/>
          <a:stretch>
            <a:fillRect/>
          </a:stretch>
        </p:blipFill>
        <p:spPr>
          <a:xfrm>
            <a:off x="128905" y="4587875"/>
            <a:ext cx="5967730" cy="17786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CONCLUSION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Achievements: 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Automated tracking, maintenance scheduling, BI insights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 b="1">
                <a:latin typeface="Calibri" panose="020F0502020204030204" charset="0"/>
                <a:cs typeface="Calibri" panose="020F0502020204030204" charset="0"/>
              </a:rPr>
              <a:t>Lessons learned:</a:t>
            </a:r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 Importance of accurate data, role-based access, predictive analytics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System ready for deployment and scalable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1800">
                <a:latin typeface="Calibri" panose="020F0502020204030204" charset="0"/>
                <a:cs typeface="Calibri" panose="020F0502020204030204" charset="0"/>
              </a:rPr>
              <a:t>Q&amp;A: Open for questions from audience</a:t>
            </a:r>
            <a:endParaRPr lang="en-US" altLang="en-US" sz="18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3328</Words>
  <Application>WPS Presentation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Microsoft YaHei</vt:lpstr>
      <vt:lpstr>Arial Unicode MS</vt:lpstr>
      <vt:lpstr>Gear Drives</vt:lpstr>
      <vt:lpstr>PowerPoint 演示文稿</vt:lpstr>
      <vt:lpstr>Problem</vt:lpstr>
      <vt:lpstr>SOLUTION</vt:lpstr>
      <vt:lpstr>DATABASE</vt:lpstr>
      <vt:lpstr>BUSINESS PROCESS</vt:lpstr>
      <vt:lpstr>TECHNICAL</vt:lpstr>
      <vt:lpstr>ADVANCED FEATURES</vt:lpstr>
      <vt:lpstr>BI &amp; ANALTICS</vt:lpstr>
      <vt:lpstr>RESULTS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Regine pacis Igihozo</cp:lastModifiedBy>
  <cp:revision>6</cp:revision>
  <dcterms:created xsi:type="dcterms:W3CDTF">2025-07-23T00:59:00Z</dcterms:created>
  <dcterms:modified xsi:type="dcterms:W3CDTF">2025-12-16T22:07:27Z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08E2B592DFA94DE682001E72EC436E11_11</vt:lpwstr>
  </property>
  <property fmtid="{D5CDD505-2E9C-101B-9397-08002B2CF9AE}" pid="3" name="KSOProductBuildVer">
    <vt:lpwstr>1033-12.2.0.23155</vt:lpwstr>
  </property>
</Properties>
</file>